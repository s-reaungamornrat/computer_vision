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BF1DFE-14BC-48F4-AAB3-92327E1C204C}" v="1327" dt="2025-12-24T08:42:18.7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namkeenman.wordpress.com/2015/12/18/open-cv-determine-angle-of-rotatedrect-minarearect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heailearner.com/tag/cv2-minarearec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0C8B288-FB28-63E7-8FF3-DB69EFD12D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8063008"/>
              </p:ext>
            </p:extLst>
          </p:nvPr>
        </p:nvGraphicFramePr>
        <p:xfrm>
          <a:off x="1910920" y="1553649"/>
          <a:ext cx="3640441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063">
                  <a:extLst>
                    <a:ext uri="{9D8B030D-6E8A-4147-A177-3AD203B41FA5}">
                      <a16:colId xmlns:a16="http://schemas.microsoft.com/office/drawing/2014/main" val="3429519417"/>
                    </a:ext>
                  </a:extLst>
                </a:gridCol>
                <a:gridCol w="520063">
                  <a:extLst>
                    <a:ext uri="{9D8B030D-6E8A-4147-A177-3AD203B41FA5}">
                      <a16:colId xmlns:a16="http://schemas.microsoft.com/office/drawing/2014/main" val="1547378135"/>
                    </a:ext>
                  </a:extLst>
                </a:gridCol>
                <a:gridCol w="520063">
                  <a:extLst>
                    <a:ext uri="{9D8B030D-6E8A-4147-A177-3AD203B41FA5}">
                      <a16:colId xmlns:a16="http://schemas.microsoft.com/office/drawing/2014/main" val="645448408"/>
                    </a:ext>
                  </a:extLst>
                </a:gridCol>
                <a:gridCol w="520063">
                  <a:extLst>
                    <a:ext uri="{9D8B030D-6E8A-4147-A177-3AD203B41FA5}">
                      <a16:colId xmlns:a16="http://schemas.microsoft.com/office/drawing/2014/main" val="1266744329"/>
                    </a:ext>
                  </a:extLst>
                </a:gridCol>
                <a:gridCol w="520063">
                  <a:extLst>
                    <a:ext uri="{9D8B030D-6E8A-4147-A177-3AD203B41FA5}">
                      <a16:colId xmlns:a16="http://schemas.microsoft.com/office/drawing/2014/main" val="1619545910"/>
                    </a:ext>
                  </a:extLst>
                </a:gridCol>
                <a:gridCol w="520063">
                  <a:extLst>
                    <a:ext uri="{9D8B030D-6E8A-4147-A177-3AD203B41FA5}">
                      <a16:colId xmlns:a16="http://schemas.microsoft.com/office/drawing/2014/main" val="1350261460"/>
                    </a:ext>
                  </a:extLst>
                </a:gridCol>
                <a:gridCol w="520063">
                  <a:extLst>
                    <a:ext uri="{9D8B030D-6E8A-4147-A177-3AD203B41FA5}">
                      <a16:colId xmlns:a16="http://schemas.microsoft.com/office/drawing/2014/main" val="2231044081"/>
                    </a:ext>
                  </a:extLst>
                </a:gridCol>
              </a:tblGrid>
              <a:tr h="358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7592393"/>
                  </a:ext>
                </a:extLst>
              </a:tr>
              <a:tr h="358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479721"/>
                  </a:ext>
                </a:extLst>
              </a:tr>
              <a:tr h="358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258141"/>
                  </a:ext>
                </a:extLst>
              </a:tr>
              <a:tr h="358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708558"/>
                  </a:ext>
                </a:extLst>
              </a:tr>
              <a:tr h="358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426577"/>
                  </a:ext>
                </a:extLst>
              </a:tr>
              <a:tr h="358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3075535"/>
                  </a:ext>
                </a:extLst>
              </a:tr>
              <a:tr h="358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281268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245A088-30C1-5881-E239-1BAE5F45C2CF}"/>
              </a:ext>
            </a:extLst>
          </p:cNvPr>
          <p:cNvCxnSpPr/>
          <p:nvPr/>
        </p:nvCxnSpPr>
        <p:spPr>
          <a:xfrm>
            <a:off x="1928059" y="1578851"/>
            <a:ext cx="3815155" cy="26484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33028C8-74B0-477F-8808-619FFFFC29B5}"/>
              </a:ext>
            </a:extLst>
          </p:cNvPr>
          <p:cNvSpPr txBox="1"/>
          <p:nvPr/>
        </p:nvSpPr>
        <p:spPr>
          <a:xfrm>
            <a:off x="5767013" y="4090519"/>
            <a:ext cx="145785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4EA72E"/>
                </a:solidFill>
              </a:rPr>
              <a:t>True positive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F850208-7F0D-DC9B-F1DC-F337075890C7}"/>
              </a:ext>
            </a:extLst>
          </p:cNvPr>
          <p:cNvCxnSpPr/>
          <p:nvPr/>
        </p:nvCxnSpPr>
        <p:spPr>
          <a:xfrm flipV="1">
            <a:off x="2032665" y="1711546"/>
            <a:ext cx="3734902" cy="327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DD83683-47FB-D92B-7C0B-0B24CE8AAC22}"/>
              </a:ext>
            </a:extLst>
          </p:cNvPr>
          <p:cNvCxnSpPr>
            <a:cxnSpLocks/>
          </p:cNvCxnSpPr>
          <p:nvPr/>
        </p:nvCxnSpPr>
        <p:spPr>
          <a:xfrm flipV="1">
            <a:off x="2032664" y="2070504"/>
            <a:ext cx="3734902" cy="327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31B8A6F-4373-2D5D-46DF-B90395DBCCC6}"/>
              </a:ext>
            </a:extLst>
          </p:cNvPr>
          <p:cNvCxnSpPr>
            <a:cxnSpLocks/>
          </p:cNvCxnSpPr>
          <p:nvPr/>
        </p:nvCxnSpPr>
        <p:spPr>
          <a:xfrm flipV="1">
            <a:off x="2032663" y="3890486"/>
            <a:ext cx="3734902" cy="327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C6ADED7-A605-78E3-E08A-50386C00AD53}"/>
              </a:ext>
            </a:extLst>
          </p:cNvPr>
          <p:cNvSpPr txBox="1"/>
          <p:nvPr/>
        </p:nvSpPr>
        <p:spPr>
          <a:xfrm>
            <a:off x="5603276" y="2824717"/>
            <a:ext cx="178532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215E99"/>
                </a:solidFill>
              </a:rPr>
              <a:t>False positive</a:t>
            </a:r>
            <a:endParaRPr lang="en-US">
              <a:solidFill>
                <a:srgbClr val="215E99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8C4ABF-26C6-24A9-CE72-90A9C2971E8E}"/>
              </a:ext>
            </a:extLst>
          </p:cNvPr>
          <p:cNvSpPr txBox="1"/>
          <p:nvPr/>
        </p:nvSpPr>
        <p:spPr>
          <a:xfrm rot="5400000">
            <a:off x="5546598" y="2421675"/>
            <a:ext cx="44395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215E99"/>
                </a:solidFill>
              </a:rPr>
              <a:t>…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F206B2-E8E9-A9E4-AC7C-38A20A1475F3}"/>
              </a:ext>
            </a:extLst>
          </p:cNvPr>
          <p:cNvSpPr txBox="1"/>
          <p:nvPr/>
        </p:nvSpPr>
        <p:spPr>
          <a:xfrm rot="5400000">
            <a:off x="5546597" y="3334815"/>
            <a:ext cx="44395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215E99"/>
                </a:solidFill>
              </a:rPr>
              <a:t>…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569F2C-BFFB-9FDB-C6B3-7BBF6BBAAC76}"/>
              </a:ext>
            </a:extLst>
          </p:cNvPr>
          <p:cNvSpPr/>
          <p:nvPr/>
        </p:nvSpPr>
        <p:spPr>
          <a:xfrm>
            <a:off x="5012688" y="3746148"/>
            <a:ext cx="554353" cy="373339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85A766-8B02-7F51-788B-4EC405C87A1E}"/>
              </a:ext>
            </a:extLst>
          </p:cNvPr>
          <p:cNvSpPr txBox="1"/>
          <p:nvPr/>
        </p:nvSpPr>
        <p:spPr>
          <a:xfrm>
            <a:off x="5763696" y="3715053"/>
            <a:ext cx="240294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Background class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8D2DF61-F3D6-C70E-F693-155D57AB7AE2}"/>
              </a:ext>
            </a:extLst>
          </p:cNvPr>
          <p:cNvSpPr txBox="1"/>
          <p:nvPr/>
        </p:nvSpPr>
        <p:spPr>
          <a:xfrm>
            <a:off x="625599" y="377517"/>
            <a:ext cx="401246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Oriented bounding boxes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43B84DB-311D-E8A6-DFF0-7AFA20FA6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641" y="1075072"/>
            <a:ext cx="3090547" cy="22767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808C9D-4B0D-7F08-D0E0-228D1BDF0D21}"/>
              </a:ext>
            </a:extLst>
          </p:cNvPr>
          <p:cNvSpPr txBox="1"/>
          <p:nvPr/>
        </p:nvSpPr>
        <p:spPr>
          <a:xfrm>
            <a:off x="337975" y="6083453"/>
            <a:ext cx="8758392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ea typeface="+mn-lt"/>
                <a:cs typeface="+mn-lt"/>
                <a:hlinkClick r:id="rId3"/>
              </a:rPr>
              <a:t>Open CV : Determine angle of RotatedRect / minAreaRect | Namkeen Man's Blog</a:t>
            </a:r>
          </a:p>
          <a:p>
            <a:r>
              <a:rPr lang="en-US" sz="1100" dirty="0">
                <a:ea typeface="+mn-lt"/>
                <a:cs typeface="+mn-lt"/>
                <a:hlinkClick r:id="rId4"/>
              </a:rPr>
              <a:t>cv2.minAreaRect() | TheAILearner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FFAA67-C4C9-EDBE-C0CA-CCC2557CF1F1}"/>
              </a:ext>
            </a:extLst>
          </p:cNvPr>
          <p:cNvSpPr txBox="1"/>
          <p:nvPr/>
        </p:nvSpPr>
        <p:spPr>
          <a:xfrm>
            <a:off x="7267069" y="372413"/>
            <a:ext cx="4361249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latin typeface="Courier New"/>
                <a:cs typeface="Courier New"/>
              </a:rPr>
              <a:t># Define the four corners relative to the box center as if rectangle was not rotate</a:t>
            </a:r>
          </a:p>
          <a:p>
            <a:r>
              <a:rPr lang="en-US" sz="1200" dirty="0" err="1">
                <a:latin typeface="Courier New"/>
                <a:cs typeface="Courier New"/>
              </a:rPr>
              <a:t>half_w</a:t>
            </a:r>
            <a:r>
              <a:rPr lang="en-US" sz="1200" dirty="0">
                <a:latin typeface="Courier New"/>
                <a:cs typeface="Courier New"/>
              </a:rPr>
              <a:t>=w/2</a:t>
            </a:r>
          </a:p>
          <a:p>
            <a:r>
              <a:rPr lang="en-US" sz="1200" dirty="0" err="1">
                <a:latin typeface="Courier New"/>
                <a:cs typeface="Courier New"/>
              </a:rPr>
              <a:t>half_h</a:t>
            </a:r>
            <a:r>
              <a:rPr lang="en-US" sz="1200" dirty="0">
                <a:latin typeface="Courier New"/>
                <a:cs typeface="Courier New"/>
              </a:rPr>
              <a:t>=h/2</a:t>
            </a:r>
          </a:p>
          <a:p>
            <a:endParaRPr lang="en-US" sz="1200" dirty="0">
              <a:latin typeface="Courier New"/>
              <a:cs typeface="Courier New"/>
            </a:endParaRPr>
          </a:p>
          <a:p>
            <a:r>
              <a:rPr lang="en-US" sz="1200" dirty="0">
                <a:latin typeface="Courier New"/>
                <a:cs typeface="Courier New"/>
              </a:rPr>
              <a:t># The four corners before rotation.</a:t>
            </a:r>
          </a:p>
          <a:p>
            <a:r>
              <a:rPr lang="en-US" sz="1200" dirty="0">
                <a:latin typeface="Courier New"/>
                <a:cs typeface="Courier New"/>
              </a:rPr>
              <a:t>corners=[[</a:t>
            </a:r>
            <a:r>
              <a:rPr lang="en-US" sz="1200" dirty="0" err="1">
                <a:latin typeface="Courier New"/>
                <a:cs typeface="Courier New"/>
              </a:rPr>
              <a:t>half_w</a:t>
            </a:r>
            <a:r>
              <a:rPr lang="en-US" sz="1200" dirty="0">
                <a:latin typeface="Courier New"/>
                <a:cs typeface="Courier New"/>
              </a:rPr>
              <a:t>, </a:t>
            </a:r>
            <a:r>
              <a:rPr lang="en-US" sz="1200" dirty="0" err="1">
                <a:latin typeface="Courier New"/>
                <a:cs typeface="Courier New"/>
              </a:rPr>
              <a:t>half_h</a:t>
            </a:r>
            <a:r>
              <a:rPr lang="en-US" sz="1200" dirty="0">
                <a:latin typeface="Courier New"/>
                <a:cs typeface="Courier New"/>
              </a:rPr>
              <a:t>],</a:t>
            </a:r>
            <a:endParaRPr lang="en-US" sz="1200" dirty="0">
              <a:latin typeface="Aptos" panose="020B0004020202020204"/>
              <a:cs typeface="Courier New"/>
            </a:endParaRPr>
          </a:p>
          <a:p>
            <a:r>
              <a:rPr lang="en-US" sz="1200" dirty="0">
                <a:latin typeface="Courier New"/>
                <a:cs typeface="Courier New"/>
              </a:rPr>
              <a:t>         [-</a:t>
            </a:r>
            <a:r>
              <a:rPr lang="en-US" sz="1200" dirty="0" err="1">
                <a:latin typeface="Courier New"/>
                <a:cs typeface="Courier New"/>
              </a:rPr>
              <a:t>half_w</a:t>
            </a:r>
            <a:r>
              <a:rPr lang="en-US" sz="1200" dirty="0">
                <a:latin typeface="Courier New"/>
                <a:cs typeface="Courier New"/>
              </a:rPr>
              <a:t>, </a:t>
            </a:r>
            <a:r>
              <a:rPr lang="en-US" sz="1200" dirty="0" err="1">
                <a:latin typeface="Courier New"/>
                <a:cs typeface="Courier New"/>
              </a:rPr>
              <a:t>half_h</a:t>
            </a:r>
            <a:r>
              <a:rPr lang="en-US" sz="1200" dirty="0">
                <a:latin typeface="Courier New"/>
                <a:cs typeface="Courier New"/>
              </a:rPr>
              <a:t>],</a:t>
            </a:r>
            <a:endParaRPr lang="en-US" sz="1200" dirty="0">
              <a:latin typeface="Aptos" panose="020B0004020202020204"/>
              <a:cs typeface="Courier New"/>
            </a:endParaRPr>
          </a:p>
          <a:p>
            <a:r>
              <a:rPr lang="en-US" sz="1200" dirty="0">
                <a:latin typeface="Courier New"/>
                <a:cs typeface="Courier New"/>
              </a:rPr>
              <a:t>         [-half_w,-</a:t>
            </a:r>
            <a:r>
              <a:rPr lang="en-US" sz="1200" dirty="0" err="1">
                <a:latin typeface="Courier New"/>
                <a:cs typeface="Courier New"/>
              </a:rPr>
              <a:t>half_h</a:t>
            </a:r>
            <a:r>
              <a:rPr lang="en-US" sz="1200" dirty="0">
                <a:latin typeface="Courier New"/>
                <a:cs typeface="Courier New"/>
              </a:rPr>
              <a:t>],</a:t>
            </a:r>
            <a:endParaRPr lang="en-US" sz="1200" dirty="0">
              <a:latin typeface="Aptos" panose="020B0004020202020204"/>
              <a:cs typeface="Courier New"/>
            </a:endParaRPr>
          </a:p>
          <a:p>
            <a:r>
              <a:rPr lang="en-US" sz="1200" dirty="0">
                <a:latin typeface="Courier New"/>
                <a:cs typeface="Courier New"/>
              </a:rPr>
              <a:t>         [half_w,-</a:t>
            </a:r>
            <a:r>
              <a:rPr lang="en-US" sz="1200" dirty="0" err="1">
                <a:latin typeface="Courier New"/>
                <a:cs typeface="Courier New"/>
              </a:rPr>
              <a:t>half_h</a:t>
            </a:r>
            <a:r>
              <a:rPr lang="en-US" sz="1200" dirty="0">
                <a:latin typeface="Courier New"/>
                <a:cs typeface="Courier New"/>
              </a:rPr>
              <a:t>]]</a:t>
            </a:r>
            <a:endParaRPr lang="en-US" sz="1200" dirty="0">
              <a:latin typeface="Aptos" panose="020B0004020202020204"/>
              <a:cs typeface="Courier New"/>
            </a:endParaRPr>
          </a:p>
          <a:p>
            <a:endParaRPr lang="en-US" sz="1200" dirty="0">
              <a:latin typeface="Courier New"/>
              <a:cs typeface="Courier New"/>
            </a:endParaRPr>
          </a:p>
          <a:p>
            <a:r>
              <a:rPr lang="en-US" sz="1200" dirty="0" err="1">
                <a:latin typeface="Courier New"/>
                <a:cs typeface="Courier New"/>
              </a:rPr>
              <a:t>rotated_box</a:t>
            </a:r>
            <a:r>
              <a:rPr lang="en-US" sz="1200" dirty="0">
                <a:latin typeface="Courier New"/>
                <a:cs typeface="Courier New"/>
              </a:rPr>
              <a:t>=[]</a:t>
            </a:r>
          </a:p>
          <a:p>
            <a:r>
              <a:rPr lang="en-US" sz="1200" dirty="0">
                <a:latin typeface="Courier New"/>
                <a:cs typeface="Courier New"/>
              </a:rPr>
              <a:t>for </a:t>
            </a:r>
            <a:r>
              <a:rPr lang="en-US" sz="1200" err="1">
                <a:latin typeface="Courier New"/>
                <a:cs typeface="Courier New"/>
              </a:rPr>
              <a:t>x,y</a:t>
            </a:r>
            <a:r>
              <a:rPr lang="en-US" sz="1200" dirty="0">
                <a:latin typeface="Courier New"/>
                <a:cs typeface="Courier New"/>
              </a:rPr>
              <a:t> in corners:</a:t>
            </a:r>
          </a:p>
          <a:p>
            <a:r>
              <a:rPr lang="en-US" sz="1200" dirty="0">
                <a:latin typeface="Courier New"/>
                <a:cs typeface="Courier New"/>
              </a:rPr>
              <a:t>   # Apply the 2D rotation matrix</a:t>
            </a:r>
          </a:p>
          <a:p>
            <a:r>
              <a:rPr lang="en-US" sz="1200" dirty="0">
                <a:latin typeface="Courier New"/>
                <a:cs typeface="Courier New"/>
              </a:rPr>
              <a:t>   # x'=x*cos(theta)-y*sin(theta)</a:t>
            </a:r>
          </a:p>
          <a:p>
            <a:r>
              <a:rPr lang="en-US" sz="1200" dirty="0">
                <a:latin typeface="Courier New"/>
                <a:cs typeface="Courier New"/>
              </a:rPr>
              <a:t>   # y'=x*sin(theta)+y*cos(theta)</a:t>
            </a:r>
          </a:p>
          <a:p>
            <a:r>
              <a:rPr lang="en-US" sz="1200" dirty="0">
                <a:latin typeface="Courier New"/>
                <a:cs typeface="Courier New"/>
              </a:rPr>
              <a:t>   </a:t>
            </a:r>
            <a:r>
              <a:rPr lang="en-US" sz="1200" err="1">
                <a:latin typeface="Courier New"/>
                <a:cs typeface="Courier New"/>
              </a:rPr>
              <a:t>x_rot</a:t>
            </a:r>
            <a:r>
              <a:rPr lang="en-US" sz="1200" dirty="0">
                <a:latin typeface="Courier New"/>
                <a:cs typeface="Courier New"/>
              </a:rPr>
              <a:t>=x*</a:t>
            </a:r>
            <a:r>
              <a:rPr lang="en-US" sz="1200" err="1">
                <a:latin typeface="Courier New"/>
                <a:cs typeface="Courier New"/>
              </a:rPr>
              <a:t>cos_theta</a:t>
            </a:r>
            <a:r>
              <a:rPr lang="en-US" sz="1200" dirty="0">
                <a:latin typeface="Courier New"/>
                <a:cs typeface="Courier New"/>
              </a:rPr>
              <a:t>-y*</a:t>
            </a:r>
            <a:r>
              <a:rPr lang="en-US" sz="1200" err="1">
                <a:latin typeface="Courier New"/>
                <a:cs typeface="Courier New"/>
              </a:rPr>
              <a:t>sin_theta</a:t>
            </a:r>
            <a:endParaRPr lang="en-US" sz="1200">
              <a:latin typeface="Courier New"/>
              <a:cs typeface="Courier New"/>
            </a:endParaRPr>
          </a:p>
          <a:p>
            <a:r>
              <a:rPr lang="en-US" sz="1200" dirty="0">
                <a:latin typeface="Courier New"/>
                <a:cs typeface="Courier New"/>
              </a:rPr>
              <a:t>   </a:t>
            </a:r>
            <a:r>
              <a:rPr lang="en-US" sz="1200" dirty="0" err="1">
                <a:latin typeface="Courier New"/>
                <a:cs typeface="Courier New"/>
              </a:rPr>
              <a:t>y_rot</a:t>
            </a:r>
            <a:r>
              <a:rPr lang="en-US" sz="1200" dirty="0">
                <a:latin typeface="Courier New"/>
                <a:cs typeface="Courier New"/>
              </a:rPr>
              <a:t>=x*</a:t>
            </a:r>
            <a:r>
              <a:rPr lang="en-US" sz="1200" dirty="0" err="1">
                <a:latin typeface="Courier New"/>
                <a:cs typeface="Courier New"/>
              </a:rPr>
              <a:t>sin_theta+y</a:t>
            </a:r>
            <a:r>
              <a:rPr lang="en-US" sz="1200" dirty="0">
                <a:latin typeface="Courier New"/>
                <a:cs typeface="Courier New"/>
              </a:rPr>
              <a:t>*</a:t>
            </a:r>
            <a:r>
              <a:rPr lang="en-US" sz="1200" dirty="0" err="1">
                <a:latin typeface="Courier New"/>
                <a:cs typeface="Courier New"/>
              </a:rPr>
              <a:t>cos_theta</a:t>
            </a:r>
          </a:p>
          <a:p>
            <a:endParaRPr lang="en-US" sz="1200" dirty="0">
              <a:latin typeface="Courier New"/>
              <a:cs typeface="Courier New"/>
            </a:endParaRPr>
          </a:p>
          <a:p>
            <a:r>
              <a:rPr lang="en-US" sz="1200" dirty="0">
                <a:latin typeface="Courier New"/>
                <a:cs typeface="Courier New"/>
              </a:rPr>
              <a:t>   # Translate back to the actual center</a:t>
            </a:r>
          </a:p>
          <a:p>
            <a:r>
              <a:rPr lang="en-US" sz="1200" dirty="0">
                <a:latin typeface="Courier New"/>
                <a:cs typeface="Courier New"/>
              </a:rPr>
              <a:t>   </a:t>
            </a:r>
            <a:r>
              <a:rPr lang="en-US" sz="1200" dirty="0" err="1">
                <a:latin typeface="Courier New"/>
                <a:cs typeface="Courier New"/>
              </a:rPr>
              <a:t>rotated_box.append</a:t>
            </a:r>
            <a:r>
              <a:rPr lang="en-US" sz="1200" dirty="0">
                <a:latin typeface="Courier New"/>
                <a:cs typeface="Courier New"/>
              </a:rPr>
              <a:t>([</a:t>
            </a:r>
            <a:r>
              <a:rPr lang="en-US" sz="1200" dirty="0" err="1">
                <a:latin typeface="Courier New"/>
                <a:cs typeface="Courier New"/>
              </a:rPr>
              <a:t>x_rot+xc</a:t>
            </a:r>
            <a:r>
              <a:rPr lang="en-US" sz="1200" dirty="0">
                <a:latin typeface="Courier New"/>
                <a:cs typeface="Courier New"/>
              </a:rPr>
              <a:t>, </a:t>
            </a:r>
            <a:r>
              <a:rPr lang="en-US" sz="1200" dirty="0" err="1">
                <a:latin typeface="Courier New"/>
                <a:cs typeface="Courier New"/>
              </a:rPr>
              <a:t>y_rot+yc</a:t>
            </a:r>
            <a:r>
              <a:rPr lang="en-US" sz="1200" dirty="0">
                <a:latin typeface="Courier New"/>
                <a:cs typeface="Courier New"/>
              </a:rPr>
              <a:t>])</a:t>
            </a:r>
          </a:p>
          <a:p>
            <a:r>
              <a:rPr lang="en-US" sz="1200" dirty="0">
                <a:latin typeface="Courier New"/>
                <a:cs typeface="Courier New"/>
              </a:rPr>
              <a:t> </a:t>
            </a:r>
          </a:p>
          <a:p>
            <a:r>
              <a:rPr lang="en-US" sz="1200" dirty="0">
                <a:latin typeface="Courier New"/>
                <a:cs typeface="Courier New"/>
              </a:rPr>
              <a:t> </a:t>
            </a:r>
          </a:p>
          <a:p>
            <a:r>
              <a:rPr lang="en-US" sz="1200" dirty="0">
                <a:latin typeface="Courier New"/>
                <a:cs typeface="Courier New"/>
              </a:rPr>
              <a:t>  </a:t>
            </a:r>
            <a:endParaRPr lang="en-US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355785-4497-FC86-8E5A-337A382BEB49}"/>
              </a:ext>
            </a:extLst>
          </p:cNvPr>
          <p:cNvSpPr/>
          <p:nvPr/>
        </p:nvSpPr>
        <p:spPr>
          <a:xfrm rot="2460000">
            <a:off x="4461890" y="1571695"/>
            <a:ext cx="1529084" cy="8989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65542A3-91DF-92C7-1E51-A961E99AFB1A}"/>
              </a:ext>
            </a:extLst>
          </p:cNvPr>
          <p:cNvSpPr/>
          <p:nvPr/>
        </p:nvSpPr>
        <p:spPr>
          <a:xfrm flipV="1">
            <a:off x="5196844" y="1988461"/>
            <a:ext cx="50146" cy="5654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626F2D-F1D1-4483-3741-814163833F6F}"/>
              </a:ext>
            </a:extLst>
          </p:cNvPr>
          <p:cNvSpPr txBox="1"/>
          <p:nvPr/>
        </p:nvSpPr>
        <p:spPr>
          <a:xfrm>
            <a:off x="5253842" y="2858526"/>
            <a:ext cx="115047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dirty="0"/>
              <a:t>(-w/2,h/2)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64EF59-F17F-9DFF-F62E-479988E760CF}"/>
              </a:ext>
            </a:extLst>
          </p:cNvPr>
          <p:cNvSpPr txBox="1"/>
          <p:nvPr/>
        </p:nvSpPr>
        <p:spPr>
          <a:xfrm>
            <a:off x="6044597" y="2067770"/>
            <a:ext cx="115047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dirty="0"/>
              <a:t>(w/2,h/2)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94C115-0AB8-84F2-B64E-4F5952B81791}"/>
              </a:ext>
            </a:extLst>
          </p:cNvPr>
          <p:cNvSpPr txBox="1"/>
          <p:nvPr/>
        </p:nvSpPr>
        <p:spPr>
          <a:xfrm>
            <a:off x="3600445" y="1765846"/>
            <a:ext cx="115047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dirty="0"/>
              <a:t>(-w/2,-h/2)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EBC277-3E4A-37B8-51F8-E29A186BB9AC}"/>
              </a:ext>
            </a:extLst>
          </p:cNvPr>
          <p:cNvSpPr txBox="1"/>
          <p:nvPr/>
        </p:nvSpPr>
        <p:spPr>
          <a:xfrm>
            <a:off x="4391200" y="975090"/>
            <a:ext cx="115047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dirty="0"/>
              <a:t>(w/2,-h/2)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F0BC75-EF74-202A-6AF1-F2DFE3400FE9}"/>
              </a:ext>
            </a:extLst>
          </p:cNvPr>
          <p:cNvSpPr txBox="1"/>
          <p:nvPr/>
        </p:nvSpPr>
        <p:spPr>
          <a:xfrm>
            <a:off x="630014" y="3677030"/>
            <a:ext cx="3139162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/>
              <a:t>2D Rotation matrix</a:t>
            </a:r>
          </a:p>
          <a:p>
            <a:r>
              <a:rPr lang="en-US" sz="1400" dirty="0"/>
              <a:t>[cos  -sin]</a:t>
            </a:r>
          </a:p>
          <a:p>
            <a:r>
              <a:rPr lang="en-US" sz="1400" dirty="0"/>
              <a:t>[sin    cos]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7E5DF89-7F7D-202F-8169-2A8863CC7964}"/>
              </a:ext>
            </a:extLst>
          </p:cNvPr>
          <p:cNvSpPr/>
          <p:nvPr/>
        </p:nvSpPr>
        <p:spPr>
          <a:xfrm rot="2460000">
            <a:off x="4490644" y="4145242"/>
            <a:ext cx="1529084" cy="8989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49B2763-C8AB-1666-503D-2C05C180B01D}"/>
              </a:ext>
            </a:extLst>
          </p:cNvPr>
          <p:cNvSpPr/>
          <p:nvPr/>
        </p:nvSpPr>
        <p:spPr>
          <a:xfrm flipV="1">
            <a:off x="5225598" y="4562008"/>
            <a:ext cx="50146" cy="5654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DED4FE-8399-C5C1-ACEB-B170B8374701}"/>
              </a:ext>
            </a:extLst>
          </p:cNvPr>
          <p:cNvSpPr txBox="1"/>
          <p:nvPr/>
        </p:nvSpPr>
        <p:spPr>
          <a:xfrm>
            <a:off x="4750634" y="5432073"/>
            <a:ext cx="281824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/>
              <a:t>(-w/2 cos-h/2 sin,</a:t>
            </a:r>
            <a:endParaRPr lang="en-US" dirty="0"/>
          </a:p>
          <a:p>
            <a:r>
              <a:rPr lang="en-US" sz="1200" dirty="0"/>
              <a:t> -w/2  </a:t>
            </a:r>
            <a:r>
              <a:rPr lang="en-US" sz="1200" dirty="0" err="1"/>
              <a:t>sin+h</a:t>
            </a:r>
            <a:r>
              <a:rPr lang="en-US" sz="1200" dirty="0"/>
              <a:t>/2 cos) +(</a:t>
            </a:r>
            <a:r>
              <a:rPr lang="en-US" sz="1200" dirty="0" err="1"/>
              <a:t>xc,yc</a:t>
            </a:r>
            <a:r>
              <a:rPr lang="en-US" sz="1200" dirty="0"/>
              <a:t>) --pt4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BF01CD-15FD-2589-BBB8-0B717BDFF95B}"/>
              </a:ext>
            </a:extLst>
          </p:cNvPr>
          <p:cNvSpPr txBox="1"/>
          <p:nvPr/>
        </p:nvSpPr>
        <p:spPr>
          <a:xfrm>
            <a:off x="6102105" y="4612563"/>
            <a:ext cx="261696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/>
              <a:t>(w/2 cos-h/2 sin,</a:t>
            </a:r>
            <a:endParaRPr lang="en-US" dirty="0"/>
          </a:p>
          <a:p>
            <a:r>
              <a:rPr lang="en-US" sz="1200" dirty="0"/>
              <a:t>w/2 sin+ h/2 cos)  + (</a:t>
            </a:r>
            <a:r>
              <a:rPr lang="en-US" sz="1200" dirty="0" err="1"/>
              <a:t>xc,yc</a:t>
            </a:r>
            <a:r>
              <a:rPr lang="en-US" sz="1200" dirty="0"/>
              <a:t>) -- pt1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DF12050-240B-6856-47E4-AA4E7187F84B}"/>
              </a:ext>
            </a:extLst>
          </p:cNvPr>
          <p:cNvSpPr txBox="1"/>
          <p:nvPr/>
        </p:nvSpPr>
        <p:spPr>
          <a:xfrm>
            <a:off x="2637161" y="4555053"/>
            <a:ext cx="258820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/>
              <a:t>(-w/2 </a:t>
            </a:r>
            <a:r>
              <a:rPr lang="en-US" sz="1200" dirty="0" err="1"/>
              <a:t>cos+h</a:t>
            </a:r>
            <a:r>
              <a:rPr lang="en-US" sz="1200" dirty="0"/>
              <a:t>/2 sin,</a:t>
            </a:r>
            <a:endParaRPr lang="en-US" dirty="0"/>
          </a:p>
          <a:p>
            <a:r>
              <a:rPr lang="en-US" sz="1200" dirty="0"/>
              <a:t> -w/2 sin-h/2 cos)  +(</a:t>
            </a:r>
            <a:r>
              <a:rPr lang="en-US" sz="1200" dirty="0" err="1"/>
              <a:t>xc,yc</a:t>
            </a:r>
            <a:r>
              <a:rPr lang="en-US" sz="1200" dirty="0"/>
              <a:t>)-- pt3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E4E72F3-8033-BCF6-00DD-2B5D95B6030A}"/>
              </a:ext>
            </a:extLst>
          </p:cNvPr>
          <p:cNvSpPr txBox="1"/>
          <p:nvPr/>
        </p:nvSpPr>
        <p:spPr>
          <a:xfrm>
            <a:off x="4175539" y="3433617"/>
            <a:ext cx="244443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/>
              <a:t>(w/2 </a:t>
            </a:r>
            <a:r>
              <a:rPr lang="en-US" sz="1200" dirty="0" err="1"/>
              <a:t>cos+h</a:t>
            </a:r>
            <a:r>
              <a:rPr lang="en-US" sz="1200" dirty="0"/>
              <a:t>/2 sin,</a:t>
            </a:r>
          </a:p>
          <a:p>
            <a:r>
              <a:rPr lang="en-US" sz="1200" dirty="0"/>
              <a:t>w/2 sin - h/2 cos) +(xc, </a:t>
            </a:r>
            <a:r>
              <a:rPr lang="en-US" sz="1200" dirty="0" err="1"/>
              <a:t>yc</a:t>
            </a:r>
            <a:r>
              <a:rPr lang="en-US" sz="1200" dirty="0"/>
              <a:t>) --pt2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DC3B8C-BE98-B0BD-F60B-993A01A14D50}"/>
              </a:ext>
            </a:extLst>
          </p:cNvPr>
          <p:cNvSpPr txBox="1"/>
          <p:nvPr/>
        </p:nvSpPr>
        <p:spPr>
          <a:xfrm>
            <a:off x="5009426" y="1981506"/>
            <a:ext cx="115047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dirty="0"/>
              <a:t>(</a:t>
            </a:r>
            <a:r>
              <a:rPr lang="en-US" sz="1200" dirty="0" err="1"/>
              <a:t>xc,yc</a:t>
            </a:r>
            <a:r>
              <a:rPr lang="en-US" sz="1200" dirty="0"/>
              <a:t>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CE8D20-1ACE-C98E-00DC-E363F7A75B9B}"/>
              </a:ext>
            </a:extLst>
          </p:cNvPr>
          <p:cNvSpPr txBox="1"/>
          <p:nvPr/>
        </p:nvSpPr>
        <p:spPr>
          <a:xfrm>
            <a:off x="5009425" y="4569430"/>
            <a:ext cx="115047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dirty="0"/>
              <a:t>(</a:t>
            </a:r>
            <a:r>
              <a:rPr lang="en-US" sz="1200" dirty="0" err="1"/>
              <a:t>xc,yc</a:t>
            </a:r>
            <a:r>
              <a:rPr lang="en-US" sz="1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19464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209</cp:revision>
  <dcterms:created xsi:type="dcterms:W3CDTF">2025-12-13T06:33:29Z</dcterms:created>
  <dcterms:modified xsi:type="dcterms:W3CDTF">2025-12-24T08:50:38Z</dcterms:modified>
</cp:coreProperties>
</file>